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rata"/>
      <p:regular r:id="rId28"/>
    </p:embeddedFont>
    <p:embeddedFont>
      <p:font typeface="Varela Round"/>
      <p:regular r:id="rId29"/>
    </p:embeddedFont>
    <p:embeddedFont>
      <p:font typeface="DM Sans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rata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VarelaRou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5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56b9f3920_2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a56b9f3920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56b9f3920_2_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a56b9f3920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56b9f39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56b9f39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[Summary] Configurations: free, boundary, nudging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每6小時換boundary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改圖、加FCN free run的圖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4. 動畫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567bc7c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567bc7c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[Summary] Configurations: free, boundary, nudging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每6小時換boundary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改圖、加FCN free run的圖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4. 動畫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567bc7c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a567bc7c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567bc7cd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567bc7cd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567bc7cd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a567bc7cd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567bc7cd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567bc7cd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567bc7cd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567bc7cd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67bc7cd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a567bc7cd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567bc7cd7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567bc7cd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567bc7cd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a567bc7cd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567bc7cd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567bc7cd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567bc7cd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a567bc7cd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567bc7cd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567bc7cd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567bc7cd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567bc7cd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567bc7cd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567bc7cd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567bc7cd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a567bc7cd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487ab9d18_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a487ab9d18_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47a898b8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47a898b8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0" y="0"/>
            <a:ext cx="9144091" cy="5143649"/>
            <a:chOff x="0" y="0"/>
            <a:chExt cx="7440875" cy="4152457"/>
          </a:xfrm>
        </p:grpSpPr>
        <p:sp>
          <p:nvSpPr>
            <p:cNvPr id="55" name="Google Shape;55;p14"/>
            <p:cNvSpPr/>
            <p:nvPr/>
          </p:nvSpPr>
          <p:spPr>
            <a:xfrm>
              <a:off x="26505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4"/>
            <p:cNvSpPr/>
            <p:nvPr/>
          </p:nvSpPr>
          <p:spPr>
            <a:xfrm>
              <a:off x="583651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902179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1220641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539169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185776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2176224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494752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3346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131874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3450336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3768929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4087457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4405920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72444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043041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536163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5680031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99862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31715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6635615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6954208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2736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0" y="7085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0" y="37488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0" y="67878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0" y="982811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0" y="1286708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0" y="1590737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0" y="189470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0" y="219859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0" y="250262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0" y="280652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6505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83651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902179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220641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1539169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185776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2176224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2494752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813346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3131874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450336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768929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4087457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4405920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472444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5043041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36163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680031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99862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631715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6635615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954208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7272736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2502494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2806523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0" y="3110420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0" y="3414448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0" y="3718411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0" y="402244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502465" y="399924"/>
            <a:ext cx="8139073" cy="4343656"/>
            <a:chOff x="916986" y="2500875"/>
            <a:chExt cx="2280619" cy="1217119"/>
          </a:xfrm>
        </p:grpSpPr>
        <p:sp>
          <p:nvSpPr>
            <p:cNvPr id="118" name="Google Shape;118;p14"/>
            <p:cNvSpPr/>
            <p:nvPr/>
          </p:nvSpPr>
          <p:spPr>
            <a:xfrm>
              <a:off x="930568" y="2514572"/>
              <a:ext cx="105996" cy="1189768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1036508" y="2514572"/>
              <a:ext cx="2147431" cy="1189768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916986" y="2500875"/>
              <a:ext cx="93570" cy="139459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916986" y="3578650"/>
              <a:ext cx="133160" cy="139344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2917819" y="3493113"/>
              <a:ext cx="279786" cy="2248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1291500" y="2400500"/>
            <a:ext cx="43200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4" name="Google Shape;124;p14"/>
          <p:cNvSpPr txBox="1"/>
          <p:nvPr>
            <p:ph idx="2" type="title"/>
          </p:nvPr>
        </p:nvSpPr>
        <p:spPr>
          <a:xfrm>
            <a:off x="1291500" y="1241525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" type="subTitle"/>
          </p:nvPr>
        </p:nvSpPr>
        <p:spPr>
          <a:xfrm>
            <a:off x="1291500" y="3360725"/>
            <a:ext cx="4320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4"/>
          <p:cNvSpPr/>
          <p:nvPr/>
        </p:nvSpPr>
        <p:spPr>
          <a:xfrm>
            <a:off x="1190841" y="4876886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212841" y="4445786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0" y="0"/>
            <a:ext cx="9144091" cy="5143649"/>
            <a:chOff x="0" y="0"/>
            <a:chExt cx="7440875" cy="4152457"/>
          </a:xfrm>
        </p:grpSpPr>
        <p:sp>
          <p:nvSpPr>
            <p:cNvPr id="130" name="Google Shape;130;p15"/>
            <p:cNvSpPr/>
            <p:nvPr/>
          </p:nvSpPr>
          <p:spPr>
            <a:xfrm>
              <a:off x="26505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583651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902179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1220641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539169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85776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2176224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2494752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2813346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131874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450336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768929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4087457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4405920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472444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5043041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536163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5680031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599862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31715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6635615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6954208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7272736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0" y="7085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0" y="37488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0" y="67878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0" y="982811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0" y="1286708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0" y="1590737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0" y="189470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0" y="219859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0" y="250262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0" y="280652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26505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583651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902179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1220641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1539169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85776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2176224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2494752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813346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131874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3450336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3768929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4087457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4405920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472444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5043041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536163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5680031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599862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631715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6635615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6954208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272736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0" y="2502494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0" y="2806523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0" y="3110420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0" y="3414448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0" y="3718411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0" y="402244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192408" y="135664"/>
            <a:ext cx="8759173" cy="4872494"/>
            <a:chOff x="916986" y="2500875"/>
            <a:chExt cx="2280619" cy="1217119"/>
          </a:xfrm>
        </p:grpSpPr>
        <p:sp>
          <p:nvSpPr>
            <p:cNvPr id="193" name="Google Shape;193;p15"/>
            <p:cNvSpPr/>
            <p:nvPr/>
          </p:nvSpPr>
          <p:spPr>
            <a:xfrm>
              <a:off x="930568" y="2514572"/>
              <a:ext cx="105996" cy="1189768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036508" y="2514572"/>
              <a:ext cx="2147431" cy="1189768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916986" y="2500875"/>
              <a:ext cx="93570" cy="139459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916986" y="3578650"/>
              <a:ext cx="133160" cy="139344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2917819" y="3493113"/>
              <a:ext cx="279786" cy="2248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15"/>
          <p:cNvSpPr txBox="1"/>
          <p:nvPr>
            <p:ph type="title"/>
          </p:nvPr>
        </p:nvSpPr>
        <p:spPr>
          <a:xfrm>
            <a:off x="720000" y="445025"/>
            <a:ext cx="700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720000" y="1215750"/>
            <a:ext cx="70026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solidFill>
          <a:schemeClr val="dk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6"/>
          <p:cNvGrpSpPr/>
          <p:nvPr/>
        </p:nvGrpSpPr>
        <p:grpSpPr>
          <a:xfrm>
            <a:off x="0" y="0"/>
            <a:ext cx="9144091" cy="5143649"/>
            <a:chOff x="0" y="0"/>
            <a:chExt cx="7440875" cy="4152457"/>
          </a:xfrm>
        </p:grpSpPr>
        <p:sp>
          <p:nvSpPr>
            <p:cNvPr id="202" name="Google Shape;202;p16"/>
            <p:cNvSpPr/>
            <p:nvPr/>
          </p:nvSpPr>
          <p:spPr>
            <a:xfrm>
              <a:off x="26505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583651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902179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1220641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1539169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185776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2176224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2494752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2813346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3131874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3450336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3768929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4087457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4405920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4724447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5043041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536163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5680031" y="0"/>
              <a:ext cx="7545" cy="2884827"/>
            </a:xfrm>
            <a:custGeom>
              <a:rect b="b" l="l" r="r" t="t"/>
              <a:pathLst>
                <a:path extrusionOk="0" h="43971" w="115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5998624" y="0"/>
              <a:ext cx="7348" cy="2884827"/>
            </a:xfrm>
            <a:custGeom>
              <a:rect b="b" l="l" r="r" t="t"/>
              <a:pathLst>
                <a:path extrusionOk="0" h="43971" w="112">
                  <a:moveTo>
                    <a:pt x="0" y="1"/>
                  </a:moveTo>
                  <a:lnTo>
                    <a:pt x="0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6317152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6635615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1" y="1"/>
                  </a:moveTo>
                  <a:lnTo>
                    <a:pt x="1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6954208" y="0"/>
              <a:ext cx="7479" cy="2884827"/>
            </a:xfrm>
            <a:custGeom>
              <a:rect b="b" l="l" r="r" t="t"/>
              <a:pathLst>
                <a:path extrusionOk="0" h="43971" w="114">
                  <a:moveTo>
                    <a:pt x="0" y="1"/>
                  </a:moveTo>
                  <a:lnTo>
                    <a:pt x="0" y="43970"/>
                  </a:lnTo>
                  <a:lnTo>
                    <a:pt x="114" y="43970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7272736" y="0"/>
              <a:ext cx="7414" cy="2884827"/>
            </a:xfrm>
            <a:custGeom>
              <a:rect b="b" l="l" r="r" t="t"/>
              <a:pathLst>
                <a:path extrusionOk="0" h="43971" w="113">
                  <a:moveTo>
                    <a:pt x="1" y="1"/>
                  </a:moveTo>
                  <a:lnTo>
                    <a:pt x="1" y="43970"/>
                  </a:lnTo>
                  <a:lnTo>
                    <a:pt x="112" y="43970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0" y="7085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0" y="37488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0" y="67878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0" y="982811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0" y="1286708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0" y="1590737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0" y="189470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0" y="2198597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0" y="2502625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0" y="2806523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6505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583651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902179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1220641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1539169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185776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176224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494752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13346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3131874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3450336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768929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4087457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4405920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724447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5043041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536163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5680031" y="2431703"/>
              <a:ext cx="7545" cy="1720754"/>
            </a:xfrm>
            <a:custGeom>
              <a:rect b="b" l="l" r="r" t="t"/>
              <a:pathLst>
                <a:path extrusionOk="0" h="26228" w="115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5998624" y="2431703"/>
              <a:ext cx="7348" cy="1720754"/>
            </a:xfrm>
            <a:custGeom>
              <a:rect b="b" l="l" r="r" t="t"/>
              <a:pathLst>
                <a:path extrusionOk="0" h="26228" w="112">
                  <a:moveTo>
                    <a:pt x="0" y="0"/>
                  </a:moveTo>
                  <a:lnTo>
                    <a:pt x="0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6317152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6635615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1" y="0"/>
                  </a:moveTo>
                  <a:lnTo>
                    <a:pt x="1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6954208" y="2431703"/>
              <a:ext cx="7479" cy="1720754"/>
            </a:xfrm>
            <a:custGeom>
              <a:rect b="b" l="l" r="r" t="t"/>
              <a:pathLst>
                <a:path extrusionOk="0" h="26228" w="114">
                  <a:moveTo>
                    <a:pt x="0" y="0"/>
                  </a:moveTo>
                  <a:lnTo>
                    <a:pt x="0" y="26227"/>
                  </a:lnTo>
                  <a:lnTo>
                    <a:pt x="114" y="26227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7272736" y="2431703"/>
              <a:ext cx="7414" cy="1720754"/>
            </a:xfrm>
            <a:custGeom>
              <a:rect b="b" l="l" r="r" t="t"/>
              <a:pathLst>
                <a:path extrusionOk="0" h="26228" w="113">
                  <a:moveTo>
                    <a:pt x="1" y="0"/>
                  </a:moveTo>
                  <a:lnTo>
                    <a:pt x="1" y="26227"/>
                  </a:lnTo>
                  <a:lnTo>
                    <a:pt x="112" y="2622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0" y="2502494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0" y="2806523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0" y="3110420"/>
              <a:ext cx="7440875" cy="7545"/>
            </a:xfrm>
            <a:custGeom>
              <a:rect b="b" l="l" r="r" t="t"/>
              <a:pathLst>
                <a:path extrusionOk="0" h="115" w="113415">
                  <a:moveTo>
                    <a:pt x="0" y="1"/>
                  </a:moveTo>
                  <a:lnTo>
                    <a:pt x="0" y="114"/>
                  </a:lnTo>
                  <a:lnTo>
                    <a:pt x="113414" y="114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0" y="3414448"/>
              <a:ext cx="7440875" cy="7414"/>
            </a:xfrm>
            <a:custGeom>
              <a:rect b="b" l="l" r="r" t="t"/>
              <a:pathLst>
                <a:path extrusionOk="0" h="113" w="113415">
                  <a:moveTo>
                    <a:pt x="0" y="1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1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0" y="3718411"/>
              <a:ext cx="7440875" cy="7479"/>
            </a:xfrm>
            <a:custGeom>
              <a:rect b="b" l="l" r="r" t="t"/>
              <a:pathLst>
                <a:path extrusionOk="0" h="114" w="113415">
                  <a:moveTo>
                    <a:pt x="0" y="0"/>
                  </a:moveTo>
                  <a:lnTo>
                    <a:pt x="0" y="113"/>
                  </a:lnTo>
                  <a:lnTo>
                    <a:pt x="113414" y="113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0" y="4022440"/>
              <a:ext cx="7440875" cy="7348"/>
            </a:xfrm>
            <a:custGeom>
              <a:rect b="b" l="l" r="r" t="t"/>
              <a:pathLst>
                <a:path extrusionOk="0" h="112" w="113415">
                  <a:moveTo>
                    <a:pt x="0" y="0"/>
                  </a:moveTo>
                  <a:lnTo>
                    <a:pt x="0" y="112"/>
                  </a:lnTo>
                  <a:lnTo>
                    <a:pt x="113414" y="112"/>
                  </a:lnTo>
                  <a:lnTo>
                    <a:pt x="113414" y="0"/>
                  </a:lnTo>
                  <a:close/>
                </a:path>
              </a:pathLst>
            </a:custGeom>
            <a:solidFill>
              <a:schemeClr val="hlink">
                <a:alpha val="1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16"/>
          <p:cNvGrpSpPr/>
          <p:nvPr/>
        </p:nvGrpSpPr>
        <p:grpSpPr>
          <a:xfrm>
            <a:off x="502465" y="399924"/>
            <a:ext cx="8139073" cy="4343656"/>
            <a:chOff x="916986" y="2500875"/>
            <a:chExt cx="2280619" cy="1217119"/>
          </a:xfrm>
        </p:grpSpPr>
        <p:sp>
          <p:nvSpPr>
            <p:cNvPr id="265" name="Google Shape;265;p16"/>
            <p:cNvSpPr/>
            <p:nvPr/>
          </p:nvSpPr>
          <p:spPr>
            <a:xfrm>
              <a:off x="930568" y="2514572"/>
              <a:ext cx="105996" cy="1189768"/>
            </a:xfrm>
            <a:custGeom>
              <a:rect b="b" l="l" r="r" t="t"/>
              <a:pathLst>
                <a:path extrusionOk="0" h="20586" w="1834">
                  <a:moveTo>
                    <a:pt x="1147" y="1"/>
                  </a:moveTo>
                  <a:cubicBezTo>
                    <a:pt x="515" y="1"/>
                    <a:pt x="1" y="509"/>
                    <a:pt x="1" y="1139"/>
                  </a:cubicBezTo>
                  <a:lnTo>
                    <a:pt x="1" y="1854"/>
                  </a:lnTo>
                  <a:cubicBezTo>
                    <a:pt x="440" y="1854"/>
                    <a:pt x="796" y="2209"/>
                    <a:pt x="796" y="2645"/>
                  </a:cubicBezTo>
                  <a:cubicBezTo>
                    <a:pt x="796" y="3081"/>
                    <a:pt x="440" y="3433"/>
                    <a:pt x="1" y="3433"/>
                  </a:cubicBezTo>
                  <a:lnTo>
                    <a:pt x="1" y="4390"/>
                  </a:lnTo>
                  <a:cubicBezTo>
                    <a:pt x="440" y="4390"/>
                    <a:pt x="796" y="4745"/>
                    <a:pt x="796" y="5181"/>
                  </a:cubicBezTo>
                  <a:cubicBezTo>
                    <a:pt x="796" y="5615"/>
                    <a:pt x="440" y="5969"/>
                    <a:pt x="1" y="5969"/>
                  </a:cubicBezTo>
                  <a:lnTo>
                    <a:pt x="1" y="6924"/>
                  </a:lnTo>
                  <a:cubicBezTo>
                    <a:pt x="440" y="6924"/>
                    <a:pt x="796" y="7281"/>
                    <a:pt x="796" y="7717"/>
                  </a:cubicBezTo>
                  <a:cubicBezTo>
                    <a:pt x="796" y="8151"/>
                    <a:pt x="440" y="8505"/>
                    <a:pt x="1" y="8505"/>
                  </a:cubicBezTo>
                  <a:lnTo>
                    <a:pt x="1" y="9460"/>
                  </a:lnTo>
                  <a:cubicBezTo>
                    <a:pt x="440" y="9460"/>
                    <a:pt x="796" y="9815"/>
                    <a:pt x="796" y="10251"/>
                  </a:cubicBezTo>
                  <a:cubicBezTo>
                    <a:pt x="796" y="10687"/>
                    <a:pt x="440" y="11041"/>
                    <a:pt x="1" y="11041"/>
                  </a:cubicBezTo>
                  <a:lnTo>
                    <a:pt x="1" y="11996"/>
                  </a:lnTo>
                  <a:cubicBezTo>
                    <a:pt x="440" y="11996"/>
                    <a:pt x="796" y="12351"/>
                    <a:pt x="796" y="12787"/>
                  </a:cubicBezTo>
                  <a:cubicBezTo>
                    <a:pt x="796" y="13222"/>
                    <a:pt x="440" y="13575"/>
                    <a:pt x="1" y="13575"/>
                  </a:cubicBezTo>
                  <a:lnTo>
                    <a:pt x="1" y="14532"/>
                  </a:lnTo>
                  <a:cubicBezTo>
                    <a:pt x="440" y="14532"/>
                    <a:pt x="796" y="14886"/>
                    <a:pt x="796" y="15322"/>
                  </a:cubicBezTo>
                  <a:cubicBezTo>
                    <a:pt x="796" y="15758"/>
                    <a:pt x="440" y="16111"/>
                    <a:pt x="1" y="16111"/>
                  </a:cubicBezTo>
                  <a:lnTo>
                    <a:pt x="1" y="17068"/>
                  </a:lnTo>
                  <a:cubicBezTo>
                    <a:pt x="440" y="17068"/>
                    <a:pt x="796" y="17422"/>
                    <a:pt x="796" y="17856"/>
                  </a:cubicBezTo>
                  <a:cubicBezTo>
                    <a:pt x="796" y="18292"/>
                    <a:pt x="440" y="18647"/>
                    <a:pt x="1" y="18647"/>
                  </a:cubicBezTo>
                  <a:lnTo>
                    <a:pt x="1" y="19448"/>
                  </a:lnTo>
                  <a:cubicBezTo>
                    <a:pt x="1" y="20077"/>
                    <a:pt x="515" y="20586"/>
                    <a:pt x="1147" y="20586"/>
                  </a:cubicBezTo>
                  <a:lnTo>
                    <a:pt x="1833" y="20586"/>
                  </a:lnTo>
                  <a:lnTo>
                    <a:pt x="18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036508" y="2514572"/>
              <a:ext cx="2147431" cy="1189768"/>
            </a:xfrm>
            <a:custGeom>
              <a:rect b="b" l="l" r="r" t="t"/>
              <a:pathLst>
                <a:path extrusionOk="0" h="20586" w="37156">
                  <a:moveTo>
                    <a:pt x="0" y="1"/>
                  </a:moveTo>
                  <a:lnTo>
                    <a:pt x="0" y="20586"/>
                  </a:lnTo>
                  <a:lnTo>
                    <a:pt x="36303" y="20586"/>
                  </a:lnTo>
                  <a:cubicBezTo>
                    <a:pt x="36773" y="20586"/>
                    <a:pt x="37156" y="20205"/>
                    <a:pt x="37156" y="19733"/>
                  </a:cubicBezTo>
                  <a:lnTo>
                    <a:pt x="37156" y="851"/>
                  </a:lnTo>
                  <a:cubicBezTo>
                    <a:pt x="37156" y="382"/>
                    <a:pt x="36773" y="1"/>
                    <a:pt x="363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916986" y="2500875"/>
              <a:ext cx="93570" cy="139459"/>
            </a:xfrm>
            <a:custGeom>
              <a:rect b="b" l="l" r="r" t="t"/>
              <a:pathLst>
                <a:path extrusionOk="0" h="2413" w="1619">
                  <a:moveTo>
                    <a:pt x="1382" y="0"/>
                  </a:moveTo>
                  <a:cubicBezTo>
                    <a:pt x="620" y="0"/>
                    <a:pt x="0" y="617"/>
                    <a:pt x="0" y="1376"/>
                  </a:cubicBezTo>
                  <a:lnTo>
                    <a:pt x="0" y="2177"/>
                  </a:lnTo>
                  <a:cubicBezTo>
                    <a:pt x="0" y="2308"/>
                    <a:pt x="106" y="2412"/>
                    <a:pt x="236" y="2412"/>
                  </a:cubicBezTo>
                  <a:cubicBezTo>
                    <a:pt x="367" y="2412"/>
                    <a:pt x="473" y="2308"/>
                    <a:pt x="473" y="2177"/>
                  </a:cubicBezTo>
                  <a:lnTo>
                    <a:pt x="473" y="1376"/>
                  </a:lnTo>
                  <a:cubicBezTo>
                    <a:pt x="473" y="878"/>
                    <a:pt x="881" y="474"/>
                    <a:pt x="1382" y="474"/>
                  </a:cubicBezTo>
                  <a:cubicBezTo>
                    <a:pt x="1512" y="474"/>
                    <a:pt x="1618" y="367"/>
                    <a:pt x="1618" y="238"/>
                  </a:cubicBezTo>
                  <a:cubicBezTo>
                    <a:pt x="1618" y="107"/>
                    <a:pt x="1512" y="0"/>
                    <a:pt x="1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916986" y="3578650"/>
              <a:ext cx="133160" cy="139344"/>
            </a:xfrm>
            <a:custGeom>
              <a:rect b="b" l="l" r="r" t="t"/>
              <a:pathLst>
                <a:path extrusionOk="0" h="2411" w="2304">
                  <a:moveTo>
                    <a:pt x="236" y="0"/>
                  </a:moveTo>
                  <a:cubicBezTo>
                    <a:pt x="106" y="0"/>
                    <a:pt x="0" y="106"/>
                    <a:pt x="0" y="236"/>
                  </a:cubicBezTo>
                  <a:lnTo>
                    <a:pt x="0" y="1037"/>
                  </a:lnTo>
                  <a:cubicBezTo>
                    <a:pt x="0" y="1795"/>
                    <a:pt x="620" y="2410"/>
                    <a:pt x="1382" y="2410"/>
                  </a:cubicBezTo>
                  <a:lnTo>
                    <a:pt x="2068" y="2410"/>
                  </a:lnTo>
                  <a:cubicBezTo>
                    <a:pt x="2199" y="2410"/>
                    <a:pt x="2304" y="2306"/>
                    <a:pt x="2304" y="2175"/>
                  </a:cubicBezTo>
                  <a:cubicBezTo>
                    <a:pt x="2304" y="2043"/>
                    <a:pt x="2199" y="1939"/>
                    <a:pt x="2068" y="1939"/>
                  </a:cubicBezTo>
                  <a:lnTo>
                    <a:pt x="1382" y="1939"/>
                  </a:lnTo>
                  <a:cubicBezTo>
                    <a:pt x="881" y="1939"/>
                    <a:pt x="473" y="1535"/>
                    <a:pt x="473" y="1037"/>
                  </a:cubicBezTo>
                  <a:lnTo>
                    <a:pt x="473" y="236"/>
                  </a:lnTo>
                  <a:cubicBezTo>
                    <a:pt x="473" y="106"/>
                    <a:pt x="36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2917819" y="3493113"/>
              <a:ext cx="279786" cy="224880"/>
            </a:xfrm>
            <a:custGeom>
              <a:rect b="b" l="l" r="r" t="t"/>
              <a:pathLst>
                <a:path extrusionOk="0" h="3891" w="4841">
                  <a:moveTo>
                    <a:pt x="4605" y="0"/>
                  </a:moveTo>
                  <a:cubicBezTo>
                    <a:pt x="4473" y="0"/>
                    <a:pt x="4367" y="107"/>
                    <a:pt x="4367" y="236"/>
                  </a:cubicBezTo>
                  <a:lnTo>
                    <a:pt x="4367" y="2802"/>
                  </a:lnTo>
                  <a:cubicBezTo>
                    <a:pt x="4367" y="3142"/>
                    <a:pt x="4092" y="3419"/>
                    <a:pt x="3752" y="3419"/>
                  </a:cubicBezTo>
                  <a:lnTo>
                    <a:pt x="238" y="3419"/>
                  </a:lnTo>
                  <a:cubicBezTo>
                    <a:pt x="107" y="3419"/>
                    <a:pt x="1" y="3523"/>
                    <a:pt x="1" y="3655"/>
                  </a:cubicBezTo>
                  <a:cubicBezTo>
                    <a:pt x="1" y="3786"/>
                    <a:pt x="107" y="3890"/>
                    <a:pt x="238" y="3890"/>
                  </a:cubicBezTo>
                  <a:lnTo>
                    <a:pt x="3752" y="3890"/>
                  </a:lnTo>
                  <a:cubicBezTo>
                    <a:pt x="4353" y="3890"/>
                    <a:pt x="4840" y="3403"/>
                    <a:pt x="4840" y="2802"/>
                  </a:cubicBezTo>
                  <a:lnTo>
                    <a:pt x="4840" y="236"/>
                  </a:lnTo>
                  <a:cubicBezTo>
                    <a:pt x="4840" y="107"/>
                    <a:pt x="4734" y="0"/>
                    <a:pt x="4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2" name="Google Shape;272;p1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273" name="Google Shape;273;p1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4" name="Google Shape;274;p1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8" name="Google Shape;278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" name="Google Shape;279;p1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1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1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284" name="Google Shape;284;p19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ata"/>
              <a:buNone/>
              <a:defRPr sz="1900">
                <a:solidFill>
                  <a:schemeClr val="dk1"/>
                </a:solidFill>
                <a:latin typeface="Prata"/>
                <a:ea typeface="Prata"/>
                <a:cs typeface="Prata"/>
                <a:sym typeface="Prata"/>
              </a:defRPr>
            </a:lvl9pPr>
          </a:lstStyle>
          <a:p/>
        </p:txBody>
      </p:sp>
      <p:sp>
        <p:nvSpPr>
          <p:cNvPr id="285" name="Google Shape;285;p19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88" name="Google Shape;288;p19"/>
          <p:cNvGrpSpPr/>
          <p:nvPr/>
        </p:nvGrpSpPr>
        <p:grpSpPr>
          <a:xfrm>
            <a:off x="375945" y="272047"/>
            <a:ext cx="221100" cy="4598349"/>
            <a:chOff x="375945" y="272047"/>
            <a:chExt cx="221100" cy="4598349"/>
          </a:xfrm>
        </p:grpSpPr>
        <p:sp>
          <p:nvSpPr>
            <p:cNvPr id="289" name="Google Shape;289;p19"/>
            <p:cNvSpPr/>
            <p:nvPr/>
          </p:nvSpPr>
          <p:spPr>
            <a:xfrm rot="2700000">
              <a:off x="407158" y="305593"/>
              <a:ext cx="158675" cy="154008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9"/>
            <p:cNvSpPr/>
            <p:nvPr/>
          </p:nvSpPr>
          <p:spPr>
            <a:xfrm rot="2700000">
              <a:off x="408641" y="4683892"/>
              <a:ext cx="155705" cy="15400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7317614" y="651238"/>
            <a:ext cx="2181340" cy="4963926"/>
            <a:chOff x="7317614" y="651238"/>
            <a:chExt cx="2181340" cy="4963926"/>
          </a:xfrm>
        </p:grpSpPr>
        <p:grpSp>
          <p:nvGrpSpPr>
            <p:cNvPr id="292" name="Google Shape;292;p19"/>
            <p:cNvGrpSpPr/>
            <p:nvPr/>
          </p:nvGrpSpPr>
          <p:grpSpPr>
            <a:xfrm rot="5400000">
              <a:off x="8784134" y="651238"/>
              <a:ext cx="714820" cy="714820"/>
              <a:chOff x="771846" y="524889"/>
              <a:chExt cx="1566900" cy="1566900"/>
            </a:xfrm>
          </p:grpSpPr>
          <p:sp>
            <p:nvSpPr>
              <p:cNvPr id="293" name="Google Shape;293;p19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rect b="b" l="l" r="r" t="t"/>
                <a:pathLst>
                  <a:path extrusionOk="0" h="523" w="523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71846" y="524889"/>
                <a:ext cx="1566900" cy="1566900"/>
              </a:xfrm>
              <a:prstGeom prst="arc">
                <a:avLst>
                  <a:gd fmla="val 16200000" name="adj1"/>
                  <a:gd fmla="val 5338847" name="adj2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95" name="Google Shape;295;p19"/>
            <p:cNvGrpSpPr/>
            <p:nvPr/>
          </p:nvGrpSpPr>
          <p:grpSpPr>
            <a:xfrm rot="-5400000">
              <a:off x="7317614" y="4755364"/>
              <a:ext cx="859800" cy="859800"/>
              <a:chOff x="1125364" y="878389"/>
              <a:chExt cx="859800" cy="859800"/>
            </a:xfrm>
          </p:grpSpPr>
          <p:sp>
            <p:nvSpPr>
              <p:cNvPr id="296" name="Google Shape;296;p19"/>
              <p:cNvSpPr/>
              <p:nvPr/>
            </p:nvSpPr>
            <p:spPr>
              <a:xfrm rot="5400000">
                <a:off x="1208150" y="960625"/>
                <a:ext cx="694226" cy="695345"/>
              </a:xfrm>
              <a:custGeom>
                <a:rect b="b" l="l" r="r" t="t"/>
                <a:pathLst>
                  <a:path extrusionOk="0" h="523" w="523">
                    <a:moveTo>
                      <a:pt x="261" y="523"/>
                    </a:moveTo>
                    <a:cubicBezTo>
                      <a:pt x="261" y="523"/>
                      <a:pt x="261" y="523"/>
                      <a:pt x="261" y="523"/>
                    </a:cubicBezTo>
                    <a:cubicBezTo>
                      <a:pt x="406" y="523"/>
                      <a:pt x="523" y="406"/>
                      <a:pt x="523" y="261"/>
                    </a:cubicBezTo>
                    <a:cubicBezTo>
                      <a:pt x="523" y="261"/>
                      <a:pt x="523" y="261"/>
                      <a:pt x="523" y="261"/>
                    </a:cubicBezTo>
                    <a:cubicBezTo>
                      <a:pt x="523" y="117"/>
                      <a:pt x="406" y="0"/>
                      <a:pt x="261" y="0"/>
                    </a:cubicBezTo>
                    <a:cubicBezTo>
                      <a:pt x="261" y="0"/>
                      <a:pt x="261" y="0"/>
                      <a:pt x="261" y="0"/>
                    </a:cubicBezTo>
                    <a:cubicBezTo>
                      <a:pt x="117" y="0"/>
                      <a:pt x="0" y="117"/>
                      <a:pt x="0" y="261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0" y="406"/>
                      <a:pt x="117" y="523"/>
                      <a:pt x="261" y="5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1125364" y="878389"/>
                <a:ext cx="859800" cy="859800"/>
              </a:xfrm>
              <a:prstGeom prst="arc">
                <a:avLst>
                  <a:gd fmla="val 16200000" name="adj1"/>
                  <a:gd fmla="val 5338847" name="adj2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arela Round"/>
              <a:buNone/>
              <a:defRPr b="1" i="0" sz="35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●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○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■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●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○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■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●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○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rela Round"/>
              <a:buChar char="■"/>
              <a:defRPr b="0" i="0" sz="1400" u="none" cap="none" strike="noStrik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7.png"/><Relationship Id="rId22" Type="http://schemas.openxmlformats.org/officeDocument/2006/relationships/image" Target="../media/image16.png"/><Relationship Id="rId21" Type="http://schemas.openxmlformats.org/officeDocument/2006/relationships/image" Target="../media/image10.png"/><Relationship Id="rId24" Type="http://schemas.openxmlformats.org/officeDocument/2006/relationships/image" Target="../media/image29.png"/><Relationship Id="rId23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5.png"/><Relationship Id="rId26" Type="http://schemas.openxmlformats.org/officeDocument/2006/relationships/image" Target="../media/image30.png"/><Relationship Id="rId25" Type="http://schemas.openxmlformats.org/officeDocument/2006/relationships/image" Target="../media/image28.png"/><Relationship Id="rId28" Type="http://schemas.openxmlformats.org/officeDocument/2006/relationships/image" Target="../media/image19.png"/><Relationship Id="rId27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29" Type="http://schemas.openxmlformats.org/officeDocument/2006/relationships/image" Target="../media/image22.png"/><Relationship Id="rId7" Type="http://schemas.openxmlformats.org/officeDocument/2006/relationships/image" Target="../media/image6.png"/><Relationship Id="rId8" Type="http://schemas.openxmlformats.org/officeDocument/2006/relationships/image" Target="../media/image18.png"/><Relationship Id="rId31" Type="http://schemas.openxmlformats.org/officeDocument/2006/relationships/image" Target="../media/image23.png"/><Relationship Id="rId30" Type="http://schemas.openxmlformats.org/officeDocument/2006/relationships/image" Target="../media/image20.png"/><Relationship Id="rId11" Type="http://schemas.openxmlformats.org/officeDocument/2006/relationships/image" Target="../media/image1.png"/><Relationship Id="rId33" Type="http://schemas.openxmlformats.org/officeDocument/2006/relationships/image" Target="../media/image31.png"/><Relationship Id="rId10" Type="http://schemas.openxmlformats.org/officeDocument/2006/relationships/image" Target="../media/image8.png"/><Relationship Id="rId32" Type="http://schemas.openxmlformats.org/officeDocument/2006/relationships/image" Target="../media/image24.png"/><Relationship Id="rId13" Type="http://schemas.openxmlformats.org/officeDocument/2006/relationships/image" Target="../media/image27.png"/><Relationship Id="rId35" Type="http://schemas.openxmlformats.org/officeDocument/2006/relationships/image" Target="../media/image32.png"/><Relationship Id="rId12" Type="http://schemas.openxmlformats.org/officeDocument/2006/relationships/image" Target="../media/image11.png"/><Relationship Id="rId34" Type="http://schemas.openxmlformats.org/officeDocument/2006/relationships/image" Target="../media/image33.png"/><Relationship Id="rId15" Type="http://schemas.openxmlformats.org/officeDocument/2006/relationships/image" Target="../media/image21.png"/><Relationship Id="rId14" Type="http://schemas.openxmlformats.org/officeDocument/2006/relationships/image" Target="../media/image15.png"/><Relationship Id="rId17" Type="http://schemas.openxmlformats.org/officeDocument/2006/relationships/image" Target="../media/image13.png"/><Relationship Id="rId16" Type="http://schemas.openxmlformats.org/officeDocument/2006/relationships/image" Target="../media/image4.png"/><Relationship Id="rId19" Type="http://schemas.openxmlformats.org/officeDocument/2006/relationships/image" Target="../media/image9.png"/><Relationship Id="rId1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1.png"/><Relationship Id="rId4" Type="http://schemas.openxmlformats.org/officeDocument/2006/relationships/image" Target="../media/image37.png"/><Relationship Id="rId5" Type="http://schemas.openxmlformats.org/officeDocument/2006/relationships/image" Target="../media/image4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1.png"/><Relationship Id="rId4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1.pn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1.png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1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1.png"/><Relationship Id="rId4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1.png"/><Relationship Id="rId4" Type="http://schemas.openxmlformats.org/officeDocument/2006/relationships/image" Target="../media/image53.png"/><Relationship Id="rId5" Type="http://schemas.openxmlformats.org/officeDocument/2006/relationships/image" Target="../media/image37.png"/><Relationship Id="rId6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1.png"/><Relationship Id="rId4" Type="http://schemas.openxmlformats.org/officeDocument/2006/relationships/image" Target="../media/image51.png"/><Relationship Id="rId5" Type="http://schemas.openxmlformats.org/officeDocument/2006/relationships/image" Target="../media/image37.png"/><Relationship Id="rId6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1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1.png"/><Relationship Id="rId4" Type="http://schemas.openxmlformats.org/officeDocument/2006/relationships/image" Target="../media/image61.png"/><Relationship Id="rId5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1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1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1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7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1.png"/><Relationship Id="rId4" Type="http://schemas.openxmlformats.org/officeDocument/2006/relationships/image" Target="../media/image74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5" Type="http://schemas.openxmlformats.org/officeDocument/2006/relationships/image" Target="../media/image76.png"/><Relationship Id="rId6" Type="http://schemas.openxmlformats.org/officeDocument/2006/relationships/image" Target="../media/image7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1.png"/><Relationship Id="rId4" Type="http://schemas.openxmlformats.org/officeDocument/2006/relationships/hyperlink" Target="http://drive.google.com/file/d/1hm9yKToYMr-q0PGbnQocBi4Ge7Nta6Or/view" TargetMode="External"/><Relationship Id="rId9" Type="http://schemas.openxmlformats.org/officeDocument/2006/relationships/image" Target="../media/image65.jpg"/><Relationship Id="rId5" Type="http://schemas.openxmlformats.org/officeDocument/2006/relationships/image" Target="../media/image67.jpg"/><Relationship Id="rId6" Type="http://schemas.openxmlformats.org/officeDocument/2006/relationships/hyperlink" Target="http://drive.google.com/file/d/1VnaTNUBezEmSVeUHTZoLNbbFRxvMW5oK/view" TargetMode="External"/><Relationship Id="rId7" Type="http://schemas.openxmlformats.org/officeDocument/2006/relationships/image" Target="../media/image66.jpg"/><Relationship Id="rId8" Type="http://schemas.openxmlformats.org/officeDocument/2006/relationships/hyperlink" Target="http://drive.google.com/file/d/18WINurh1RWQG-11gbxVjYPBznvrHbz6h/view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480"/>
              <a:t>Hands_on_4</a:t>
            </a:r>
            <a:endParaRPr b="1" sz="248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480"/>
              <a:t>實作區域資料導向天氣預報模式:</a:t>
            </a:r>
            <a:endParaRPr b="1" sz="248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480"/>
              <a:t>FCNv2 及其擴充模組 與 RegPGW++ 整合應用</a:t>
            </a:r>
            <a:endParaRPr b="1" sz="2480"/>
          </a:p>
        </p:txBody>
      </p:sp>
      <p:sp>
        <p:nvSpPr>
          <p:cNvPr id="303" name="Google Shape;30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2025.11.19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 txBox="1"/>
          <p:nvPr>
            <p:ph type="title"/>
          </p:nvPr>
        </p:nvSpPr>
        <p:spPr>
          <a:xfrm>
            <a:off x="2336618" y="1863910"/>
            <a:ext cx="5347914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4400"/>
              <a:t>PGW 2-way</a:t>
            </a:r>
            <a:endParaRPr sz="4400"/>
          </a:p>
        </p:txBody>
      </p:sp>
      <p:sp>
        <p:nvSpPr>
          <p:cNvPr id="309" name="Google Shape;309;p21"/>
          <p:cNvSpPr txBox="1"/>
          <p:nvPr>
            <p:ph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310" name="Google Shape;310;p2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zh-TW" sz="13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 flipH="1" rot="10800000">
            <a:off x="1600600" y="2910566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12" name="Google Shape;312;p21"/>
          <p:cNvCxnSpPr/>
          <p:nvPr/>
        </p:nvCxnSpPr>
        <p:spPr>
          <a:xfrm flipH="1" rot="10800000">
            <a:off x="1600600" y="1714341"/>
            <a:ext cx="5942700" cy="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13" name="Google Shape;313;p21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7997772" y="1129413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7580822" y="805988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1465693" y="3242608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959250" y="3792534"/>
            <a:ext cx="207420" cy="186779"/>
          </a:xfrm>
          <a:custGeom>
            <a:rect b="b" l="l" r="r" t="t"/>
            <a:pathLst>
              <a:path extrusionOk="0" h="3502" w="3889">
                <a:moveTo>
                  <a:pt x="1944" y="1"/>
                </a:moveTo>
                <a:cubicBezTo>
                  <a:pt x="1791" y="1"/>
                  <a:pt x="1637" y="81"/>
                  <a:pt x="1558" y="241"/>
                </a:cubicBezTo>
                <a:lnTo>
                  <a:pt x="1330" y="702"/>
                </a:lnTo>
                <a:cubicBezTo>
                  <a:pt x="1268" y="830"/>
                  <a:pt x="1145" y="918"/>
                  <a:pt x="1005" y="938"/>
                </a:cubicBezTo>
                <a:lnTo>
                  <a:pt x="497" y="1012"/>
                </a:lnTo>
                <a:cubicBezTo>
                  <a:pt x="142" y="1063"/>
                  <a:pt x="0" y="1498"/>
                  <a:pt x="257" y="1748"/>
                </a:cubicBezTo>
                <a:lnTo>
                  <a:pt x="624" y="2107"/>
                </a:lnTo>
                <a:cubicBezTo>
                  <a:pt x="727" y="2206"/>
                  <a:pt x="773" y="2348"/>
                  <a:pt x="748" y="2488"/>
                </a:cubicBezTo>
                <a:lnTo>
                  <a:pt x="661" y="2995"/>
                </a:lnTo>
                <a:cubicBezTo>
                  <a:pt x="614" y="3274"/>
                  <a:pt x="836" y="3501"/>
                  <a:pt x="1088" y="3501"/>
                </a:cubicBezTo>
                <a:cubicBezTo>
                  <a:pt x="1154" y="3501"/>
                  <a:pt x="1223" y="3485"/>
                  <a:pt x="1289" y="3450"/>
                </a:cubicBezTo>
                <a:lnTo>
                  <a:pt x="1744" y="3211"/>
                </a:lnTo>
                <a:cubicBezTo>
                  <a:pt x="1806" y="3178"/>
                  <a:pt x="1875" y="3162"/>
                  <a:pt x="1944" y="3162"/>
                </a:cubicBezTo>
                <a:cubicBezTo>
                  <a:pt x="2013" y="3162"/>
                  <a:pt x="2082" y="3178"/>
                  <a:pt x="2145" y="3211"/>
                </a:cubicBezTo>
                <a:lnTo>
                  <a:pt x="2600" y="3450"/>
                </a:lnTo>
                <a:cubicBezTo>
                  <a:pt x="2666" y="3485"/>
                  <a:pt x="2735" y="3501"/>
                  <a:pt x="2801" y="3501"/>
                </a:cubicBezTo>
                <a:cubicBezTo>
                  <a:pt x="3053" y="3501"/>
                  <a:pt x="3273" y="3274"/>
                  <a:pt x="3226" y="2995"/>
                </a:cubicBezTo>
                <a:lnTo>
                  <a:pt x="3139" y="2488"/>
                </a:lnTo>
                <a:cubicBezTo>
                  <a:pt x="3116" y="2348"/>
                  <a:pt x="3162" y="2206"/>
                  <a:pt x="3263" y="2107"/>
                </a:cubicBezTo>
                <a:lnTo>
                  <a:pt x="3631" y="1748"/>
                </a:lnTo>
                <a:cubicBezTo>
                  <a:pt x="3888" y="1498"/>
                  <a:pt x="3747" y="1063"/>
                  <a:pt x="3392" y="1012"/>
                </a:cubicBezTo>
                <a:lnTo>
                  <a:pt x="2884" y="938"/>
                </a:lnTo>
                <a:cubicBezTo>
                  <a:pt x="2744" y="918"/>
                  <a:pt x="2621" y="830"/>
                  <a:pt x="2559" y="702"/>
                </a:cubicBezTo>
                <a:lnTo>
                  <a:pt x="2331" y="241"/>
                </a:lnTo>
                <a:cubicBezTo>
                  <a:pt x="2252" y="81"/>
                  <a:pt x="2098" y="1"/>
                  <a:pt x="19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/>
          <p:nvPr/>
        </p:nvSpPr>
        <p:spPr>
          <a:xfrm>
            <a:off x="976054" y="580072"/>
            <a:ext cx="7219258" cy="1213631"/>
          </a:xfrm>
          <a:prstGeom prst="roundRect">
            <a:avLst>
              <a:gd fmla="val 16667" name="adj"/>
            </a:avLst>
          </a:prstGeom>
          <a:solidFill>
            <a:srgbClr val="DBE0E4"/>
          </a:solidFill>
          <a:ln cap="flat" cmpd="sng" w="25400">
            <a:solidFill>
              <a:srgbClr val="5C5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4F5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59168" y="3476361"/>
            <a:ext cx="7122461" cy="1135681"/>
          </a:xfrm>
          <a:prstGeom prst="roundRect">
            <a:avLst>
              <a:gd fmla="val 16667" name="adj"/>
            </a:avLst>
          </a:prstGeom>
          <a:solidFill>
            <a:srgbClr val="E6DFD7"/>
          </a:solidFill>
          <a:ln cap="flat" cmpd="sng" w="25400">
            <a:solidFill>
              <a:srgbClr val="615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4F5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 txBox="1"/>
          <p:nvPr>
            <p:ph type="title"/>
          </p:nvPr>
        </p:nvSpPr>
        <p:spPr>
          <a:xfrm>
            <a:off x="730881" y="19161"/>
            <a:ext cx="700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zh-TW" sz="2400"/>
              <a:t>Coupling Strategy (one way)</a:t>
            </a:r>
            <a:endParaRPr sz="2400"/>
          </a:p>
        </p:txBody>
      </p:sp>
      <p:pic>
        <p:nvPicPr>
          <p:cNvPr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0924" y="3492930"/>
            <a:ext cx="797845" cy="74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221" y="698084"/>
            <a:ext cx="1095420" cy="74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0469" y="3495973"/>
            <a:ext cx="820479" cy="758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7880" y="3576821"/>
            <a:ext cx="826137" cy="7582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22"/>
          <p:cNvGrpSpPr/>
          <p:nvPr/>
        </p:nvGrpSpPr>
        <p:grpSpPr>
          <a:xfrm>
            <a:off x="1060446" y="788330"/>
            <a:ext cx="1631088" cy="959106"/>
            <a:chOff x="757240" y="3130866"/>
            <a:chExt cx="2209800" cy="1299397"/>
          </a:xfrm>
        </p:grpSpPr>
        <p:grpSp>
          <p:nvGrpSpPr>
            <p:cNvPr id="330" name="Google Shape;330;p22"/>
            <p:cNvGrpSpPr/>
            <p:nvPr/>
          </p:nvGrpSpPr>
          <p:grpSpPr>
            <a:xfrm>
              <a:off x="757240" y="3138489"/>
              <a:ext cx="2209800" cy="1291774"/>
              <a:chOff x="1319213" y="2871788"/>
              <a:chExt cx="2928197" cy="1711724"/>
            </a:xfrm>
          </p:grpSpPr>
          <p:pic>
            <p:nvPicPr>
              <p:cNvPr id="331" name="Google Shape;331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319213" y="2871788"/>
                <a:ext cx="1966542" cy="12761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2" name="Google Shape;332;p2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787949" y="3069427"/>
                <a:ext cx="1966542" cy="13118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3" name="Google Shape;333;p2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009033" y="3150576"/>
                <a:ext cx="1966542" cy="13118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4" name="Google Shape;334;p2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299547" y="3284112"/>
                <a:ext cx="1947863" cy="1299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335" name="Google Shape;335;p22"/>
            <p:cNvCxnSpPr/>
            <p:nvPr/>
          </p:nvCxnSpPr>
          <p:spPr>
            <a:xfrm>
              <a:off x="770987" y="4074517"/>
              <a:ext cx="662526" cy="313548"/>
            </a:xfrm>
            <a:prstGeom prst="straightConnector1">
              <a:avLst/>
            </a:prstGeom>
            <a:noFill/>
            <a:ln cap="flat" cmpd="sng" w="19050">
              <a:solidFill>
                <a:srgbClr val="5F6793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36" name="Google Shape;336;p22"/>
            <p:cNvCxnSpPr/>
            <p:nvPr/>
          </p:nvCxnSpPr>
          <p:spPr>
            <a:xfrm>
              <a:off x="2241315" y="3130866"/>
              <a:ext cx="662526" cy="313548"/>
            </a:xfrm>
            <a:prstGeom prst="straightConnector1">
              <a:avLst/>
            </a:prstGeom>
            <a:noFill/>
            <a:ln cap="flat" cmpd="sng" w="19050">
              <a:solidFill>
                <a:srgbClr val="5F6793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pic>
        <p:nvPicPr>
          <p:cNvPr id="337" name="Google Shape;33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95292" y="3657669"/>
            <a:ext cx="826137" cy="724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18361" y="3713407"/>
            <a:ext cx="820479" cy="758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59025" y="3770430"/>
            <a:ext cx="820479" cy="75823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/>
          <p:nvPr/>
        </p:nvSpPr>
        <p:spPr>
          <a:xfrm>
            <a:off x="1969436" y="1233763"/>
            <a:ext cx="89996" cy="95935"/>
          </a:xfrm>
          <a:prstGeom prst="rect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22"/>
          <p:cNvCxnSpPr>
            <a:stCxn id="340" idx="1"/>
          </p:cNvCxnSpPr>
          <p:nvPr/>
        </p:nvCxnSpPr>
        <p:spPr>
          <a:xfrm flipH="1">
            <a:off x="1271636" y="1281731"/>
            <a:ext cx="697800" cy="2186700"/>
          </a:xfrm>
          <a:prstGeom prst="straightConnector1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2"/>
          <p:cNvCxnSpPr>
            <a:stCxn id="340" idx="3"/>
          </p:cNvCxnSpPr>
          <p:nvPr/>
        </p:nvCxnSpPr>
        <p:spPr>
          <a:xfrm>
            <a:off x="2059432" y="1281731"/>
            <a:ext cx="521700" cy="2532000"/>
          </a:xfrm>
          <a:prstGeom prst="straightConnector1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2"/>
          <p:cNvSpPr txBox="1"/>
          <p:nvPr/>
        </p:nvSpPr>
        <p:spPr>
          <a:xfrm>
            <a:off x="196440" y="949250"/>
            <a:ext cx="752248" cy="48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</a:t>
            </a:r>
            <a:b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208797" y="3716629"/>
            <a:ext cx="892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808713" y="780172"/>
            <a:ext cx="1095420" cy="76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51015" y="830388"/>
            <a:ext cx="1095420" cy="76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113295" y="889349"/>
            <a:ext cx="1095420" cy="7612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22"/>
          <p:cNvCxnSpPr/>
          <p:nvPr/>
        </p:nvCxnSpPr>
        <p:spPr>
          <a:xfrm>
            <a:off x="4692255" y="699211"/>
            <a:ext cx="511713" cy="203328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9" name="Google Shape;349;p22"/>
          <p:cNvCxnSpPr/>
          <p:nvPr/>
        </p:nvCxnSpPr>
        <p:spPr>
          <a:xfrm>
            <a:off x="3645146" y="1456872"/>
            <a:ext cx="496522" cy="198457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350" name="Google Shape;350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041086" y="3550488"/>
            <a:ext cx="797845" cy="74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14711" y="3634183"/>
            <a:ext cx="792187" cy="7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198862" y="3700023"/>
            <a:ext cx="797845" cy="74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299161" y="3765863"/>
            <a:ext cx="792187" cy="74691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2"/>
          <p:cNvSpPr txBox="1"/>
          <p:nvPr/>
        </p:nvSpPr>
        <p:spPr>
          <a:xfrm>
            <a:off x="2743868" y="3847578"/>
            <a:ext cx="836655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PGW++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2733055" y="1222979"/>
            <a:ext cx="773089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FCNV2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4464185" y="1111747"/>
            <a:ext cx="89996" cy="95935"/>
          </a:xfrm>
          <a:prstGeom prst="rect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22"/>
          <p:cNvCxnSpPr>
            <a:stCxn id="356" idx="1"/>
          </p:cNvCxnSpPr>
          <p:nvPr/>
        </p:nvCxnSpPr>
        <p:spPr>
          <a:xfrm flipH="1">
            <a:off x="4016285" y="1159715"/>
            <a:ext cx="447900" cy="647100"/>
          </a:xfrm>
          <a:prstGeom prst="straightConnector1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2"/>
          <p:cNvCxnSpPr>
            <a:endCxn id="356" idx="3"/>
          </p:cNvCxnSpPr>
          <p:nvPr/>
        </p:nvCxnSpPr>
        <p:spPr>
          <a:xfrm rot="10800000">
            <a:off x="4554181" y="1159715"/>
            <a:ext cx="318000" cy="830400"/>
          </a:xfrm>
          <a:prstGeom prst="straightConnector1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9" name="Google Shape;359;p2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99375" y="1814554"/>
            <a:ext cx="792187" cy="79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067674" y="1879174"/>
            <a:ext cx="786528" cy="78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140532" y="1960187"/>
            <a:ext cx="792187" cy="7865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22"/>
          <p:cNvCxnSpPr/>
          <p:nvPr/>
        </p:nvCxnSpPr>
        <p:spPr>
          <a:xfrm>
            <a:off x="4254577" y="2723260"/>
            <a:ext cx="0" cy="769670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3" name="Google Shape;363;p22"/>
          <p:cNvSpPr txBox="1"/>
          <p:nvPr/>
        </p:nvSpPr>
        <p:spPr>
          <a:xfrm>
            <a:off x="5329751" y="1272602"/>
            <a:ext cx="80288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FCNV2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5519236" y="3852400"/>
            <a:ext cx="87055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PGW++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22"/>
          <p:cNvCxnSpPr/>
          <p:nvPr/>
        </p:nvCxnSpPr>
        <p:spPr>
          <a:xfrm>
            <a:off x="670348" y="4795492"/>
            <a:ext cx="7854873" cy="0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6" name="Google Shape;366;p22"/>
          <p:cNvCxnSpPr/>
          <p:nvPr/>
        </p:nvCxnSpPr>
        <p:spPr>
          <a:xfrm>
            <a:off x="1871772" y="4665770"/>
            <a:ext cx="0" cy="240230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22"/>
          <p:cNvCxnSpPr/>
          <p:nvPr/>
        </p:nvCxnSpPr>
        <p:spPr>
          <a:xfrm>
            <a:off x="4574997" y="4665770"/>
            <a:ext cx="0" cy="240230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2"/>
          <p:cNvCxnSpPr/>
          <p:nvPr/>
        </p:nvCxnSpPr>
        <p:spPr>
          <a:xfrm>
            <a:off x="7501236" y="4665770"/>
            <a:ext cx="0" cy="240230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9" name="Google Shape;369;p2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237557" y="709758"/>
            <a:ext cx="1095420" cy="74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448309" y="810708"/>
            <a:ext cx="1095420" cy="76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596421" y="865962"/>
            <a:ext cx="1095420" cy="76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753954" y="922386"/>
            <a:ext cx="1095420" cy="761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p22"/>
          <p:cNvCxnSpPr/>
          <p:nvPr/>
        </p:nvCxnSpPr>
        <p:spPr>
          <a:xfrm>
            <a:off x="7332976" y="702033"/>
            <a:ext cx="489021" cy="231434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4" name="Google Shape;374;p22"/>
          <p:cNvCxnSpPr/>
          <p:nvPr/>
        </p:nvCxnSpPr>
        <p:spPr>
          <a:xfrm>
            <a:off x="6237557" y="1435633"/>
            <a:ext cx="489021" cy="231434"/>
          </a:xfrm>
          <a:prstGeom prst="straightConnector1">
            <a:avLst/>
          </a:prstGeom>
          <a:noFill/>
          <a:ln cap="flat" cmpd="sng" w="19050">
            <a:solidFill>
              <a:srgbClr val="5F6793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375" name="Google Shape;375;p2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812015" y="3530489"/>
            <a:ext cx="826137" cy="7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6907344" y="3592969"/>
            <a:ext cx="826137" cy="7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997014" y="3654991"/>
            <a:ext cx="831796" cy="7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083179" y="3717013"/>
            <a:ext cx="831796" cy="7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2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7194121" y="3788919"/>
            <a:ext cx="826137" cy="7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2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638130" y="1838315"/>
            <a:ext cx="820479" cy="77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2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757007" y="1919579"/>
            <a:ext cx="820479" cy="77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6869978" y="1987741"/>
            <a:ext cx="814820" cy="77521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2"/>
          <p:cNvSpPr/>
          <p:nvPr/>
        </p:nvSpPr>
        <p:spPr>
          <a:xfrm>
            <a:off x="7117928" y="1148209"/>
            <a:ext cx="85479" cy="91120"/>
          </a:xfrm>
          <a:prstGeom prst="rect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22"/>
          <p:cNvCxnSpPr>
            <a:endCxn id="383" idx="3"/>
          </p:cNvCxnSpPr>
          <p:nvPr/>
        </p:nvCxnSpPr>
        <p:spPr>
          <a:xfrm rot="10800000">
            <a:off x="7203407" y="1193769"/>
            <a:ext cx="434700" cy="827400"/>
          </a:xfrm>
          <a:prstGeom prst="straightConnector1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22"/>
          <p:cNvCxnSpPr>
            <a:stCxn id="383" idx="1"/>
          </p:cNvCxnSpPr>
          <p:nvPr/>
        </p:nvCxnSpPr>
        <p:spPr>
          <a:xfrm flipH="1">
            <a:off x="6638228" y="1193769"/>
            <a:ext cx="479700" cy="676800"/>
          </a:xfrm>
          <a:prstGeom prst="straightConnector1">
            <a:avLst/>
          </a:prstGeom>
          <a:noFill/>
          <a:ln cap="flat" cmpd="sng" w="9525">
            <a:solidFill>
              <a:srgbClr val="4249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2"/>
          <p:cNvCxnSpPr/>
          <p:nvPr/>
        </p:nvCxnSpPr>
        <p:spPr>
          <a:xfrm>
            <a:off x="7083179" y="2760820"/>
            <a:ext cx="0" cy="769670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7" name="Google Shape;387;p22"/>
          <p:cNvSpPr txBox="1"/>
          <p:nvPr/>
        </p:nvSpPr>
        <p:spPr>
          <a:xfrm>
            <a:off x="1754360" y="4898960"/>
            <a:ext cx="322318" cy="28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4339862" y="4898960"/>
            <a:ext cx="470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t+6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7342350" y="4889348"/>
            <a:ext cx="4702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t+n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748963" y="4696475"/>
            <a:ext cx="270135" cy="133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22"/>
          <p:cNvGrpSpPr/>
          <p:nvPr/>
        </p:nvGrpSpPr>
        <p:grpSpPr>
          <a:xfrm>
            <a:off x="5783963" y="4645551"/>
            <a:ext cx="181182" cy="260449"/>
            <a:chOff x="-671981" y="2528888"/>
            <a:chExt cx="284920" cy="409575"/>
          </a:xfrm>
        </p:grpSpPr>
        <p:sp>
          <p:nvSpPr>
            <p:cNvPr id="392" name="Google Shape;392;p22"/>
            <p:cNvSpPr/>
            <p:nvPr/>
          </p:nvSpPr>
          <p:spPr>
            <a:xfrm>
              <a:off x="-671981" y="2528888"/>
              <a:ext cx="134113" cy="409575"/>
            </a:xfrm>
            <a:custGeom>
              <a:rect b="b" l="l" r="r" t="t"/>
              <a:pathLst>
                <a:path extrusionOk="0" h="409575" w="134113">
                  <a:moveTo>
                    <a:pt x="95718" y="0"/>
                  </a:moveTo>
                  <a:cubicBezTo>
                    <a:pt x="50871" y="32146"/>
                    <a:pt x="6024" y="64293"/>
                    <a:pt x="468" y="100012"/>
                  </a:cubicBezTo>
                  <a:cubicBezTo>
                    <a:pt x="-5088" y="135731"/>
                    <a:pt x="40156" y="178593"/>
                    <a:pt x="62381" y="214312"/>
                  </a:cubicBezTo>
                  <a:cubicBezTo>
                    <a:pt x="84606" y="250031"/>
                    <a:pt x="138580" y="281781"/>
                    <a:pt x="133818" y="314325"/>
                  </a:cubicBezTo>
                  <a:cubicBezTo>
                    <a:pt x="129056" y="346869"/>
                    <a:pt x="81431" y="378222"/>
                    <a:pt x="33806" y="409575"/>
                  </a:cubicBezTo>
                </a:path>
              </a:pathLst>
            </a:cu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-521174" y="2528888"/>
              <a:ext cx="134113" cy="409575"/>
            </a:xfrm>
            <a:custGeom>
              <a:rect b="b" l="l" r="r" t="t"/>
              <a:pathLst>
                <a:path extrusionOk="0" h="409575" w="134113">
                  <a:moveTo>
                    <a:pt x="95718" y="0"/>
                  </a:moveTo>
                  <a:cubicBezTo>
                    <a:pt x="50871" y="32146"/>
                    <a:pt x="6024" y="64293"/>
                    <a:pt x="468" y="100012"/>
                  </a:cubicBezTo>
                  <a:cubicBezTo>
                    <a:pt x="-5088" y="135731"/>
                    <a:pt x="40156" y="178593"/>
                    <a:pt x="62381" y="214312"/>
                  </a:cubicBezTo>
                  <a:cubicBezTo>
                    <a:pt x="84606" y="250031"/>
                    <a:pt x="138580" y="281781"/>
                    <a:pt x="133818" y="314325"/>
                  </a:cubicBezTo>
                  <a:cubicBezTo>
                    <a:pt x="129056" y="346869"/>
                    <a:pt x="81431" y="378222"/>
                    <a:pt x="33806" y="409575"/>
                  </a:cubicBezTo>
                </a:path>
              </a:pathLst>
            </a:cu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22"/>
          <p:cNvSpPr/>
          <p:nvPr/>
        </p:nvSpPr>
        <p:spPr>
          <a:xfrm>
            <a:off x="5457755" y="2673423"/>
            <a:ext cx="685573" cy="634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3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4254577" y="2140794"/>
            <a:ext cx="521259" cy="465851"/>
          </a:xfrm>
          <a:prstGeom prst="rect">
            <a:avLst/>
          </a:prstGeom>
          <a:solidFill>
            <a:schemeClr val="accent5">
              <a:alpha val="7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6977818" y="2140794"/>
            <a:ext cx="521259" cy="465851"/>
          </a:xfrm>
          <a:prstGeom prst="rect">
            <a:avLst/>
          </a:prstGeom>
          <a:solidFill>
            <a:schemeClr val="accent5">
              <a:alpha val="7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134778" y="2317829"/>
            <a:ext cx="1038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Interaction module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3262605" y="2923284"/>
            <a:ext cx="10847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135428" y="2923284"/>
            <a:ext cx="108474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sp>
        <p:nvSpPr>
          <p:cNvPr id="405" name="Google Shape;405;p23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pic>
        <p:nvPicPr>
          <p:cNvPr id="408" name="Google Shape;408;p23" title="predict_0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42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3" title="predict_09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6375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3"/>
          <p:cNvSpPr/>
          <p:nvPr/>
        </p:nvSpPr>
        <p:spPr>
          <a:xfrm>
            <a:off x="3385775" y="2001325"/>
            <a:ext cx="1954200" cy="1762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3503750" y="2107700"/>
            <a:ext cx="1718400" cy="154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6390075" y="2001325"/>
            <a:ext cx="1954200" cy="1762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5953575" y="4162525"/>
            <a:ext cx="31353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(0.5*</a:t>
            </a:r>
            <a:r>
              <a:rPr b="1" lang="zh-TW" sz="1500">
                <a:solidFill>
                  <a:schemeClr val="dk2"/>
                </a:solidFill>
              </a:rPr>
              <a:t>FCNv2) + (0.5*RegPGW++)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419" name="Google Shape;419;p24" title="predict_0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87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4" title="predict_0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4" title="predict_0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6400" y="1602325"/>
            <a:ext cx="3355600" cy="251669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4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5" title="predict_00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37"/>
            <a:ext cx="3355600" cy="251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5" title="predict_00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42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5" title="predict_00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6375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5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33" name="Google Shape;433;p25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35" name="Google Shape;4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26" title="predict_01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28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6" title="predict_01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6" title="predict_01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4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6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44" name="Google Shape;444;p26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45" name="Google Shape;445;p26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46" name="Google Shape;4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7" title="predict_02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20"/>
            <a:ext cx="3355600" cy="251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7" title="predict_02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7" title="predict_02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25"/>
            <a:ext cx="3355606" cy="25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7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55" name="Google Shape;455;p27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56" name="Google Shape;456;p27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57" name="Google Shape;4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8" title="predict_04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16"/>
            <a:ext cx="3355600" cy="2516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 title="predict_04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8" title="predict_04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4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8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68" name="Google Shape;4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29" title="predict_07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31"/>
            <a:ext cx="3355600" cy="251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9" title="predict_07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6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9" title="predict_07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4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9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77" name="Google Shape;477;p29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79" name="Google Shape;4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0" title="predict_0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17"/>
            <a:ext cx="3355600" cy="251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0" title="predict_09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0" title="predict_096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0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No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88" name="Google Shape;488;p30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89" name="Google Shape;489;p30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90" name="Google Shape;49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31" title="predict_0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17"/>
            <a:ext cx="3355600" cy="251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1" title="predict_09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1" title="predict_096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25"/>
            <a:ext cx="3355600" cy="25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1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99" name="Google Shape;499;p31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00" name="Google Shape;500;p31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01" name="Google Shape;50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2" title="predict_1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25"/>
            <a:ext cx="3355578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2" title="predict_12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574" cy="251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2" title="predict_12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25"/>
            <a:ext cx="3355574" cy="2516676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2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10" name="Google Shape;510;p32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11" name="Google Shape;511;p32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12" name="Google Shape;51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33" title="predict_14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4200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3" title="predict_143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6375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3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20" name="Google Shape;520;p33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21" name="Google Shape;521;p33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22" name="Google Shape;52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28" name="Google Shape;528;p34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29" name="Google Shape;529;p34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30" name="Google Shape;53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531" name="Google Shape;531;p34" title="predict_14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40"/>
            <a:ext cx="3355600" cy="251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4" title="predict_14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4" title="predict_14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5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39" name="Google Shape;539;p35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41" name="Google Shape;54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542" name="Google Shape;542;p35" title="predict_16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40"/>
            <a:ext cx="3355600" cy="251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5" title="predict_16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5" title="predict_16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6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52" name="Google Shape;55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553" name="Google Shape;553;p36" title="predict_24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40"/>
            <a:ext cx="3355600" cy="251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6" title="predict_24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6" title="predict_24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7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63" name="Google Shape;56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564" name="Google Shape;564;p37" title="predict_36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40"/>
            <a:ext cx="3355600" cy="251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7" title="predict_36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7" title="predict_36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74" name="Google Shape;57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575" name="Google Shape;575;p38" title="predict_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7975" y="1602340"/>
            <a:ext cx="3355600" cy="251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8" title="predict_47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4200" y="1602325"/>
            <a:ext cx="3355600" cy="25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8" title="predict_479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6375" y="1602350"/>
            <a:ext cx="3355600" cy="251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"/>
          <p:cNvSpPr txBox="1"/>
          <p:nvPr/>
        </p:nvSpPr>
        <p:spPr>
          <a:xfrm>
            <a:off x="491563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83" name="Google Shape;583;p39"/>
          <p:cNvSpPr txBox="1"/>
          <p:nvPr/>
        </p:nvSpPr>
        <p:spPr>
          <a:xfrm>
            <a:off x="3503738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boundary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84" name="Google Shape;584;p39"/>
          <p:cNvSpPr txBox="1"/>
          <p:nvPr/>
        </p:nvSpPr>
        <p:spPr>
          <a:xfrm>
            <a:off x="6687600" y="1067425"/>
            <a:ext cx="179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2"/>
                </a:solidFill>
              </a:rPr>
              <a:t>FCNv2 nudging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585" name="Google Shape;58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zh-TW" sz="2220"/>
              <a:t>RegPGW++ with FCNv2 B.C. &amp; nudging techniques</a:t>
            </a:r>
            <a:endParaRPr b="1" sz="2220"/>
          </a:p>
        </p:txBody>
      </p:sp>
      <p:pic>
        <p:nvPicPr>
          <p:cNvPr id="586" name="Google Shape;586;p39" title="FCNv2bdry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8437" y="1742375"/>
            <a:ext cx="2947126" cy="221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9" title="nudging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6875" y="1742375"/>
            <a:ext cx="2947126" cy="221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9" title="FCNv2.mp4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24" y="1742375"/>
            <a:ext cx="2947149" cy="22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2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udy Guide to Middle School Students by Slidesgo">
  <a:themeElements>
    <a:clrScheme name="Simple Light">
      <a:dk1>
        <a:srgbClr val="646B96"/>
      </a:dk1>
      <a:lt1>
        <a:srgbClr val="FAFAFA"/>
      </a:lt1>
      <a:dk2>
        <a:srgbClr val="D5D9EE"/>
      </a:dk2>
      <a:lt2>
        <a:srgbClr val="FBDC77"/>
      </a:lt2>
      <a:accent1>
        <a:srgbClr val="F172AC"/>
      </a:accent1>
      <a:accent2>
        <a:srgbClr val="FBBEE6"/>
      </a:accent2>
      <a:accent3>
        <a:srgbClr val="DADADA"/>
      </a:accent3>
      <a:accent4>
        <a:srgbClr val="F3F3F3"/>
      </a:accent4>
      <a:accent5>
        <a:srgbClr val="FFFFFF"/>
      </a:accent5>
      <a:accent6>
        <a:srgbClr val="FFFFFF"/>
      </a:accent6>
      <a:hlink>
        <a:srgbClr val="434D7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